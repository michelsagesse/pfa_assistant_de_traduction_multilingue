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heddar" charset="1" panose="00000000000000000000"/>
      <p:regular r:id="rId32"/>
    </p:embeddedFont>
    <p:embeddedFont>
      <p:font typeface="Roboto Bold" charset="1" panose="02000000000000000000"/>
      <p:regular r:id="rId33"/>
    </p:embeddedFont>
    <p:embeddedFont>
      <p:font typeface="Open Sans Bold" charset="1" panose="020B0806030504020204"/>
      <p:regular r:id="rId34"/>
    </p:embeddedFont>
    <p:embeddedFont>
      <p:font typeface="Roboto" charset="1" panose="02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1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1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1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1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7" r="0" b="-606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8949" y="1028700"/>
            <a:ext cx="14350102" cy="7964307"/>
          </a:xfrm>
          <a:custGeom>
            <a:avLst/>
            <a:gdLst/>
            <a:ahLst/>
            <a:cxnLst/>
            <a:rect r="r" b="b" t="t" l="l"/>
            <a:pathLst>
              <a:path h="7964307" w="14350102">
                <a:moveTo>
                  <a:pt x="0" y="0"/>
                </a:moveTo>
                <a:lnTo>
                  <a:pt x="14350102" y="0"/>
                </a:lnTo>
                <a:lnTo>
                  <a:pt x="14350102" y="7964307"/>
                </a:lnTo>
                <a:lnTo>
                  <a:pt x="0" y="7964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493" y="1028700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25233" y="3227317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6056" y="7922686"/>
            <a:ext cx="2731944" cy="2395453"/>
          </a:xfrm>
          <a:custGeom>
            <a:avLst/>
            <a:gdLst/>
            <a:ahLst/>
            <a:cxnLst/>
            <a:rect r="r" b="b" t="t" l="l"/>
            <a:pathLst>
              <a:path h="2395453" w="2731944">
                <a:moveTo>
                  <a:pt x="0" y="0"/>
                </a:moveTo>
                <a:lnTo>
                  <a:pt x="2731944" y="0"/>
                </a:lnTo>
                <a:lnTo>
                  <a:pt x="2731944" y="2395454"/>
                </a:lnTo>
                <a:lnTo>
                  <a:pt x="0" y="2395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526" t="-20780" r="-4923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011928"/>
            <a:ext cx="3536130" cy="2275072"/>
          </a:xfrm>
          <a:custGeom>
            <a:avLst/>
            <a:gdLst/>
            <a:ahLst/>
            <a:cxnLst/>
            <a:rect r="r" b="b" t="t" l="l"/>
            <a:pathLst>
              <a:path h="2275072" w="3536130">
                <a:moveTo>
                  <a:pt x="0" y="0"/>
                </a:moveTo>
                <a:lnTo>
                  <a:pt x="3536130" y="0"/>
                </a:lnTo>
                <a:lnTo>
                  <a:pt x="3536130" y="2275072"/>
                </a:lnTo>
                <a:lnTo>
                  <a:pt x="0" y="2275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519" r="-4943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04043" y="0"/>
            <a:ext cx="1383957" cy="1383957"/>
          </a:xfrm>
          <a:custGeom>
            <a:avLst/>
            <a:gdLst/>
            <a:ahLst/>
            <a:cxnLst/>
            <a:rect r="r" b="b" t="t" l="l"/>
            <a:pathLst>
              <a:path h="1383957" w="1383957">
                <a:moveTo>
                  <a:pt x="0" y="0"/>
                </a:moveTo>
                <a:lnTo>
                  <a:pt x="1383957" y="0"/>
                </a:lnTo>
                <a:lnTo>
                  <a:pt x="1383957" y="1383957"/>
                </a:lnTo>
                <a:lnTo>
                  <a:pt x="0" y="13839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06976" y="0"/>
            <a:ext cx="2471351" cy="1383957"/>
          </a:xfrm>
          <a:custGeom>
            <a:avLst/>
            <a:gdLst/>
            <a:ahLst/>
            <a:cxnLst/>
            <a:rect r="r" b="b" t="t" l="l"/>
            <a:pathLst>
              <a:path h="1383957" w="2471351">
                <a:moveTo>
                  <a:pt x="0" y="0"/>
                </a:moveTo>
                <a:lnTo>
                  <a:pt x="2471352" y="0"/>
                </a:lnTo>
                <a:lnTo>
                  <a:pt x="2471352" y="1383957"/>
                </a:lnTo>
                <a:lnTo>
                  <a:pt x="0" y="138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9572" y="3481437"/>
            <a:ext cx="12108857" cy="272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2"/>
              </a:lnSpc>
            </a:pPr>
            <a:r>
              <a:rPr lang="en-US" sz="11430" spc="-400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ASSISTANT INTELLIGENT DE TRADUCTION MULTILINGUE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24123" y="1230706"/>
            <a:ext cx="8408348" cy="52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b="true" sz="30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AUTOMATION TECHNOLOGIES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4996" y="7865536"/>
            <a:ext cx="8157475" cy="21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Fait par : KOLIE MICHEL SAGESSE</a:t>
            </a:r>
          </a:p>
          <a:p>
            <a:pPr algn="ctr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</a:t>
            </a: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Encadrant: Dr. Ikhlass BOUKROUH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43013" y="1748711"/>
            <a:ext cx="12108857" cy="154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372"/>
              </a:lnSpc>
              <a:spcBef>
                <a:spcPct val="0"/>
              </a:spcBef>
            </a:pPr>
            <a:r>
              <a:rPr lang="en-US" sz="11430" spc="-400" strike="noStrike" u="none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PFA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0254304" cy="13698563"/>
          </a:xfrm>
          <a:custGeom>
            <a:avLst/>
            <a:gdLst/>
            <a:ahLst/>
            <a:cxnLst/>
            <a:rect r="r" b="b" t="t" l="l"/>
            <a:pathLst>
              <a:path h="13698563" w="20254304">
                <a:moveTo>
                  <a:pt x="0" y="0"/>
                </a:moveTo>
                <a:lnTo>
                  <a:pt x="20254304" y="0"/>
                </a:lnTo>
                <a:lnTo>
                  <a:pt x="20254304" y="13698563"/>
                </a:lnTo>
                <a:lnTo>
                  <a:pt x="0" y="1369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2686" y="2084206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0434" y="3924704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1294" y="1106200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4804" y="2170881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6553" y="2329035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4301" y="4135689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08166" y="1647130"/>
            <a:ext cx="3979834" cy="3979834"/>
          </a:xfrm>
          <a:custGeom>
            <a:avLst/>
            <a:gdLst/>
            <a:ahLst/>
            <a:cxnLst/>
            <a:rect r="r" b="b" t="t" l="l"/>
            <a:pathLst>
              <a:path h="3979834" w="3979834">
                <a:moveTo>
                  <a:pt x="0" y="0"/>
                </a:moveTo>
                <a:lnTo>
                  <a:pt x="3979834" y="0"/>
                </a:lnTo>
                <a:lnTo>
                  <a:pt x="3979834" y="3979834"/>
                </a:lnTo>
                <a:lnTo>
                  <a:pt x="0" y="3979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67664" y="3031811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ontexte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99413" y="2916288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95811" y="3230900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34203" y="4967764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Modèles candidats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627161" y="4909816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27267" y="5841606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9"/>
                </a:lnTo>
                <a:lnTo>
                  <a:pt x="0" y="790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77400" y="6793550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761027" y="5121886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74707" y="6052592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97993" y="7826106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20524" y="3945431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Étapes du pipeline De Traduction de texte/PDF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70763" y="5879706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Compréhension du sujet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66974" y="6880225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 d’application 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864127" y="7615121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50853" y="8468282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437580" y="9258300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11267" y="6994525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5104" y="8679267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54247" y="9469285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97993" y="7826106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44216" y="7691786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Diagr</a:t>
            </a: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amme d’architecture du pipeline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13744" y="8554957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Diagramme de Gantt prévisionnel sur 2 mois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90883" y="9334965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Réalisation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910386" y="9875433"/>
            <a:ext cx="409852" cy="411567"/>
          </a:xfrm>
          <a:custGeom>
            <a:avLst/>
            <a:gdLst/>
            <a:ahLst/>
            <a:cxnLst/>
            <a:rect r="r" b="b" t="t" l="l"/>
            <a:pathLst>
              <a:path h="411567" w="409852">
                <a:moveTo>
                  <a:pt x="0" y="0"/>
                </a:moveTo>
                <a:lnTo>
                  <a:pt x="409852" y="0"/>
                </a:lnTo>
                <a:lnTo>
                  <a:pt x="409852" y="411567"/>
                </a:lnTo>
                <a:lnTo>
                  <a:pt x="0" y="4115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8910386" y="9913533"/>
            <a:ext cx="480814" cy="37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229"/>
              </a:lnSpc>
              <a:spcBef>
                <a:spcPct val="0"/>
              </a:spcBef>
            </a:pPr>
            <a:r>
              <a:rPr lang="en-US" sz="2718" spc="-95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10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68406" y="9746532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417" y="901094"/>
            <a:ext cx="14578396" cy="9859784"/>
          </a:xfrm>
          <a:custGeom>
            <a:avLst/>
            <a:gdLst/>
            <a:ahLst/>
            <a:cxnLst/>
            <a:rect r="r" b="b" t="t" l="l"/>
            <a:pathLst>
              <a:path h="9859784" w="14578396">
                <a:moveTo>
                  <a:pt x="0" y="0"/>
                </a:moveTo>
                <a:lnTo>
                  <a:pt x="14578396" y="0"/>
                </a:lnTo>
                <a:lnTo>
                  <a:pt x="14578396" y="9859785"/>
                </a:lnTo>
                <a:lnTo>
                  <a:pt x="0" y="9859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8813" y="4453681"/>
            <a:ext cx="3459187" cy="3304769"/>
          </a:xfrm>
          <a:custGeom>
            <a:avLst/>
            <a:gdLst/>
            <a:ahLst/>
            <a:cxnLst/>
            <a:rect r="r" b="b" t="t" l="l"/>
            <a:pathLst>
              <a:path h="3304769" w="3459187">
                <a:moveTo>
                  <a:pt x="0" y="0"/>
                </a:moveTo>
                <a:lnTo>
                  <a:pt x="3459187" y="0"/>
                </a:lnTo>
                <a:lnTo>
                  <a:pt x="3459187" y="3304769"/>
                </a:lnTo>
                <a:lnTo>
                  <a:pt x="0" y="3304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36" r="0" b="-233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49645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807" y="3260490"/>
            <a:ext cx="12996447" cy="488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59514" indent="-729757" lvl="1">
              <a:lnSpc>
                <a:spcPts val="9464"/>
              </a:lnSpc>
              <a:buFont typeface="Arial"/>
              <a:buChar char="•"/>
            </a:pPr>
            <a:r>
              <a:rPr lang="en-US" sz="6760" spc="-236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LANGUE LIMITE ACCÈS MONDIAL</a:t>
            </a:r>
          </a:p>
          <a:p>
            <a:pPr algn="l" marL="1459514" indent="-729757" lvl="1">
              <a:lnSpc>
                <a:spcPts val="9464"/>
              </a:lnSpc>
              <a:buFont typeface="Arial"/>
              <a:buChar char="•"/>
            </a:pPr>
            <a:r>
              <a:rPr lang="en-US" sz="6760" spc="-236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IA TRADUIT LANGUES SOUS-REPRÉSENTÉES</a:t>
            </a:r>
          </a:p>
          <a:p>
            <a:pPr algn="l" marL="1459514" indent="-729757" lvl="1">
              <a:lnSpc>
                <a:spcPts val="9464"/>
              </a:lnSpc>
              <a:buFont typeface="Arial"/>
              <a:buChar char="•"/>
            </a:pPr>
            <a:r>
              <a:rPr lang="en-US" sz="6760" spc="-236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PROJET DÉVELOPPE ASSISTANT MULTILINGUE</a:t>
            </a:r>
          </a:p>
          <a:p>
            <a:pPr algn="l" marL="1459514" indent="-729757" lvl="1">
              <a:lnSpc>
                <a:spcPts val="9464"/>
              </a:lnSpc>
              <a:buFont typeface="Arial"/>
              <a:buChar char="•"/>
            </a:pPr>
            <a:r>
              <a:rPr lang="en-US" sz="6760" spc="-236">
                <a:solidFill>
                  <a:srgbClr val="FFFFFF"/>
                </a:solidFill>
                <a:latin typeface="Cheddar"/>
                <a:ea typeface="Cheddar"/>
                <a:cs typeface="Cheddar"/>
                <a:sym typeface="Cheddar"/>
              </a:rPr>
              <a:t>FIABLE, EXPLICABLE ET PERFORMANT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417" y="901094"/>
            <a:ext cx="14578396" cy="9859784"/>
          </a:xfrm>
          <a:custGeom>
            <a:avLst/>
            <a:gdLst/>
            <a:ahLst/>
            <a:cxnLst/>
            <a:rect r="r" b="b" t="t" l="l"/>
            <a:pathLst>
              <a:path h="9859784" w="14578396">
                <a:moveTo>
                  <a:pt x="0" y="0"/>
                </a:moveTo>
                <a:lnTo>
                  <a:pt x="14578396" y="0"/>
                </a:lnTo>
                <a:lnTo>
                  <a:pt x="14578396" y="9859785"/>
                </a:lnTo>
                <a:lnTo>
                  <a:pt x="0" y="9859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28813" y="4453681"/>
            <a:ext cx="3459187" cy="3304769"/>
          </a:xfrm>
          <a:custGeom>
            <a:avLst/>
            <a:gdLst/>
            <a:ahLst/>
            <a:cxnLst/>
            <a:rect r="r" b="b" t="t" l="l"/>
            <a:pathLst>
              <a:path h="3304769" w="3459187">
                <a:moveTo>
                  <a:pt x="0" y="0"/>
                </a:moveTo>
                <a:lnTo>
                  <a:pt x="3459187" y="0"/>
                </a:lnTo>
                <a:lnTo>
                  <a:pt x="3459187" y="3304769"/>
                </a:lnTo>
                <a:lnTo>
                  <a:pt x="0" y="3304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36" r="0" b="-233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9824" y="2525836"/>
            <a:ext cx="12729704" cy="6501399"/>
          </a:xfrm>
          <a:custGeom>
            <a:avLst/>
            <a:gdLst/>
            <a:ahLst/>
            <a:cxnLst/>
            <a:rect r="r" b="b" t="t" l="l"/>
            <a:pathLst>
              <a:path h="6501399" w="12729704">
                <a:moveTo>
                  <a:pt x="0" y="0"/>
                </a:moveTo>
                <a:lnTo>
                  <a:pt x="12729704" y="0"/>
                </a:lnTo>
                <a:lnTo>
                  <a:pt x="12729704" y="6501399"/>
                </a:lnTo>
                <a:lnTo>
                  <a:pt x="0" y="65013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1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62514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OBJECTIF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7481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99413" y="2811175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CONTEXTE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1150" y="3842630"/>
            <a:ext cx="10394108" cy="402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</a:t>
            </a:r>
            <a:r>
              <a:rPr lang="en-US" sz="2528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projet s’inscrit dans une démarche de recherche appliquée au sein de l’entreprise Smart Automation Technologies (Tanger), dans le cadre d’un stage de fin d’année BAC +4. Il répond à un besoin croissant de solutions de traduction :</a:t>
            </a:r>
          </a:p>
          <a:p>
            <a:pPr algn="just" marL="545872" indent="-272936" lvl="1">
              <a:lnSpc>
                <a:spcPts val="3539"/>
              </a:lnSpc>
              <a:spcBef>
                <a:spcPct val="0"/>
              </a:spcBef>
              <a:buFont typeface="Arial"/>
              <a:buChar char="•"/>
            </a:pPr>
            <a:r>
              <a:rPr lang="en-US" sz="2528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Multilingues, fiables et intelligentes</a:t>
            </a:r>
          </a:p>
          <a:p>
            <a:pPr algn="just" marL="545872" indent="-272936" lvl="1">
              <a:lnSpc>
                <a:spcPts val="3539"/>
              </a:lnSpc>
              <a:spcBef>
                <a:spcPct val="0"/>
              </a:spcBef>
              <a:buFont typeface="Arial"/>
              <a:buChar char="•"/>
            </a:pPr>
            <a:r>
              <a:rPr lang="en-US" sz="2528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Explicables, pour une meilleure compréhension des choix du modèle</a:t>
            </a:r>
          </a:p>
          <a:p>
            <a:pPr algn="just" marL="545872" indent="-272936" lvl="1">
              <a:lnSpc>
                <a:spcPts val="3539"/>
              </a:lnSpc>
              <a:spcBef>
                <a:spcPct val="0"/>
              </a:spcBef>
              <a:buFont typeface="Arial"/>
              <a:buChar char="•"/>
            </a:pPr>
            <a:r>
              <a:rPr lang="en-US" sz="2528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Automatisées, pour intégration facile dans des systèmes d’assistance ou de support</a:t>
            </a:r>
          </a:p>
          <a:p>
            <a:pPr algn="just" marL="0" indent="0" lvl="1">
              <a:lnSpc>
                <a:spcPts val="35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459972" cy="9779691"/>
          </a:xfrm>
          <a:custGeom>
            <a:avLst/>
            <a:gdLst/>
            <a:ahLst/>
            <a:cxnLst/>
            <a:rect r="r" b="b" t="t" l="l"/>
            <a:pathLst>
              <a:path h="9779691" w="14459972">
                <a:moveTo>
                  <a:pt x="0" y="0"/>
                </a:moveTo>
                <a:lnTo>
                  <a:pt x="14459972" y="0"/>
                </a:lnTo>
                <a:lnTo>
                  <a:pt x="14459972" y="9779691"/>
                </a:lnTo>
                <a:lnTo>
                  <a:pt x="0" y="9779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59972" y="2649097"/>
            <a:ext cx="3828028" cy="5148761"/>
          </a:xfrm>
          <a:custGeom>
            <a:avLst/>
            <a:gdLst/>
            <a:ahLst/>
            <a:cxnLst/>
            <a:rect r="r" b="b" t="t" l="l"/>
            <a:pathLst>
              <a:path h="5148761" w="3828028">
                <a:moveTo>
                  <a:pt x="0" y="0"/>
                </a:moveTo>
                <a:lnTo>
                  <a:pt x="3828028" y="0"/>
                </a:lnTo>
                <a:lnTo>
                  <a:pt x="3828028" y="5148761"/>
                </a:lnTo>
                <a:lnTo>
                  <a:pt x="0" y="5148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501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0290" y="2300988"/>
            <a:ext cx="6667424" cy="6613455"/>
          </a:xfrm>
          <a:custGeom>
            <a:avLst/>
            <a:gdLst/>
            <a:ahLst/>
            <a:cxnLst/>
            <a:rect r="r" b="b" t="t" l="l"/>
            <a:pathLst>
              <a:path h="6613455" w="6667424">
                <a:moveTo>
                  <a:pt x="0" y="0"/>
                </a:moveTo>
                <a:lnTo>
                  <a:pt x="6667424" y="0"/>
                </a:lnTo>
                <a:lnTo>
                  <a:pt x="6667424" y="6613455"/>
                </a:lnTo>
                <a:lnTo>
                  <a:pt x="0" y="6613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51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9635" y="578312"/>
            <a:ext cx="8094280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ÉTAPES DU PIPELINE DE TRADUCTION DE TEXTE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92" y="242953"/>
            <a:ext cx="14100749" cy="9536738"/>
          </a:xfrm>
          <a:custGeom>
            <a:avLst/>
            <a:gdLst/>
            <a:ahLst/>
            <a:cxnLst/>
            <a:rect r="r" b="b" t="t" l="l"/>
            <a:pathLst>
              <a:path h="9536738" w="14100749">
                <a:moveTo>
                  <a:pt x="0" y="0"/>
                </a:moveTo>
                <a:lnTo>
                  <a:pt x="14100749" y="0"/>
                </a:lnTo>
                <a:lnTo>
                  <a:pt x="14100749" y="9536738"/>
                </a:lnTo>
                <a:lnTo>
                  <a:pt x="0" y="953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07116" y="2578005"/>
            <a:ext cx="3880884" cy="5219853"/>
          </a:xfrm>
          <a:custGeom>
            <a:avLst/>
            <a:gdLst/>
            <a:ahLst/>
            <a:cxnLst/>
            <a:rect r="r" b="b" t="t" l="l"/>
            <a:pathLst>
              <a:path h="5219853" w="3880884">
                <a:moveTo>
                  <a:pt x="0" y="0"/>
                </a:moveTo>
                <a:lnTo>
                  <a:pt x="3880884" y="0"/>
                </a:lnTo>
                <a:lnTo>
                  <a:pt x="3880884" y="5219853"/>
                </a:lnTo>
                <a:lnTo>
                  <a:pt x="0" y="5219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501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88722" y="2358298"/>
            <a:ext cx="8360111" cy="7077536"/>
          </a:xfrm>
          <a:custGeom>
            <a:avLst/>
            <a:gdLst/>
            <a:ahLst/>
            <a:cxnLst/>
            <a:rect r="r" b="b" t="t" l="l"/>
            <a:pathLst>
              <a:path h="7077536" w="8360111">
                <a:moveTo>
                  <a:pt x="0" y="0"/>
                </a:moveTo>
                <a:lnTo>
                  <a:pt x="8360111" y="0"/>
                </a:lnTo>
                <a:lnTo>
                  <a:pt x="8360111" y="7077536"/>
                </a:lnTo>
                <a:lnTo>
                  <a:pt x="0" y="707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8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4553" y="635622"/>
            <a:ext cx="8094280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ÉTAPES DU PIPELINE DE TRADUCTION DU PDF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75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6049" y="3789181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6049" y="6280349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9"/>
                </a:lnTo>
                <a:lnTo>
                  <a:pt x="0" y="790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9413" y="2811175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MODÈLES CANDIDATS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4804" y="3865846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SeamlessM4T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9916" y="4000166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9916" y="6491335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25576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14804" y="4958565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NLLB-200</a:t>
            </a:r>
            <a:r>
              <a:rPr lang="en-US" sz="3096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(No Language Left Behind – Meta AI)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06049" y="5034765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39916" y="5245750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14804" y="6357015"/>
            <a:ext cx="8619594" cy="54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5"/>
              </a:lnSpc>
              <a:spcBef>
                <a:spcPct val="0"/>
              </a:spcBef>
            </a:pPr>
            <a:r>
              <a:rPr lang="en-US" sz="30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Fasttext (Meta AI)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427469"/>
            <a:ext cx="12017534" cy="8127801"/>
          </a:xfrm>
          <a:custGeom>
            <a:avLst/>
            <a:gdLst/>
            <a:ahLst/>
            <a:cxnLst/>
            <a:rect r="r" b="b" t="t" l="l"/>
            <a:pathLst>
              <a:path h="8127801" w="12017534">
                <a:moveTo>
                  <a:pt x="0" y="0"/>
                </a:moveTo>
                <a:lnTo>
                  <a:pt x="12017534" y="0"/>
                </a:lnTo>
                <a:lnTo>
                  <a:pt x="12017534" y="8127801"/>
                </a:lnTo>
                <a:lnTo>
                  <a:pt x="0" y="81278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54972" y="2295389"/>
            <a:ext cx="855275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COMPRÉHENSION DU SUJET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071" y="3216245"/>
            <a:ext cx="10876212" cy="425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1"/>
              </a:lnSpc>
              <a:spcBef>
                <a:spcPct val="0"/>
              </a:spcBef>
            </a:pPr>
            <a:r>
              <a:rPr lang="en-US" sz="27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Il</a:t>
            </a: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s’agit d’un assistant intelligent de traduction multilingue capable de :</a:t>
            </a:r>
          </a:p>
          <a:p>
            <a:pPr algn="just" marL="583230" indent="-291615" lvl="1">
              <a:lnSpc>
                <a:spcPts val="3781"/>
              </a:lnSpc>
              <a:spcBef>
                <a:spcPct val="0"/>
              </a:spcBef>
              <a:buFont typeface="Arial"/>
              <a:buChar char="•"/>
            </a:pP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Détecter automatiquement la langue source</a:t>
            </a:r>
          </a:p>
          <a:p>
            <a:pPr algn="just" marL="583230" indent="-291615" lvl="1">
              <a:lnSpc>
                <a:spcPts val="3781"/>
              </a:lnSpc>
              <a:spcBef>
                <a:spcPct val="0"/>
              </a:spcBef>
              <a:buFont typeface="Arial"/>
              <a:buChar char="•"/>
            </a:pP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Traduire un texte entré par l’utilisateur avec précision vers la langue cible</a:t>
            </a:r>
          </a:p>
          <a:p>
            <a:pPr algn="just" marL="583230" indent="-291615" lvl="1">
              <a:lnSpc>
                <a:spcPts val="3781"/>
              </a:lnSpc>
              <a:spcBef>
                <a:spcPct val="0"/>
              </a:spcBef>
              <a:buFont typeface="Arial"/>
              <a:buChar char="•"/>
            </a:pP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Traduire un fichier pdf</a:t>
            </a:r>
          </a:p>
          <a:p>
            <a:pPr algn="just">
              <a:lnSpc>
                <a:spcPts val="3781"/>
              </a:lnSpc>
              <a:spcBef>
                <a:spcPct val="0"/>
              </a:spcBef>
            </a:pP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 n’est pas seulement un traducteur, mais un système explicable et automatisé, utile pour :</a:t>
            </a:r>
          </a:p>
          <a:p>
            <a:pPr algn="just" marL="583230" indent="-291615" lvl="1">
              <a:lnSpc>
                <a:spcPts val="3781"/>
              </a:lnSpc>
              <a:spcBef>
                <a:spcPct val="0"/>
              </a:spcBef>
              <a:buFont typeface="Arial"/>
              <a:buChar char="•"/>
            </a:pPr>
            <a:r>
              <a:rPr lang="en-US" sz="2701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Permettre une interaction intelligente avec les utilisateurs</a:t>
            </a:r>
          </a:p>
          <a:p>
            <a:pPr algn="just" marL="0" indent="0" lvl="1">
              <a:lnSpc>
                <a:spcPts val="3781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25576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299" y="817379"/>
            <a:ext cx="15703637" cy="10620817"/>
          </a:xfrm>
          <a:custGeom>
            <a:avLst/>
            <a:gdLst/>
            <a:ahLst/>
            <a:cxnLst/>
            <a:rect r="r" b="b" t="t" l="l"/>
            <a:pathLst>
              <a:path h="10620817" w="15703637">
                <a:moveTo>
                  <a:pt x="0" y="0"/>
                </a:moveTo>
                <a:lnTo>
                  <a:pt x="15703637" y="0"/>
                </a:lnTo>
                <a:lnTo>
                  <a:pt x="15703637" y="10620817"/>
                </a:lnTo>
                <a:lnTo>
                  <a:pt x="0" y="10620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87338" y="1765625"/>
            <a:ext cx="5000662" cy="6032233"/>
          </a:xfrm>
          <a:custGeom>
            <a:avLst/>
            <a:gdLst/>
            <a:ahLst/>
            <a:cxnLst/>
            <a:rect r="r" b="b" t="t" l="l"/>
            <a:pathLst>
              <a:path h="6032233" w="5000662">
                <a:moveTo>
                  <a:pt x="0" y="0"/>
                </a:moveTo>
                <a:lnTo>
                  <a:pt x="5000662" y="0"/>
                </a:lnTo>
                <a:lnTo>
                  <a:pt x="5000662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628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2514" y="2857931"/>
            <a:ext cx="12544824" cy="5222559"/>
          </a:xfrm>
          <a:custGeom>
            <a:avLst/>
            <a:gdLst/>
            <a:ahLst/>
            <a:cxnLst/>
            <a:rect r="r" b="b" t="t" l="l"/>
            <a:pathLst>
              <a:path h="5222559" w="12544824">
                <a:moveTo>
                  <a:pt x="0" y="0"/>
                </a:moveTo>
                <a:lnTo>
                  <a:pt x="12544824" y="0"/>
                </a:lnTo>
                <a:lnTo>
                  <a:pt x="12544824" y="5222559"/>
                </a:lnTo>
                <a:lnTo>
                  <a:pt x="0" y="5222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511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9591" y="1879925"/>
            <a:ext cx="855275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CAS D’APPLICATION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90" y="1244452"/>
            <a:ext cx="13046984" cy="8824047"/>
          </a:xfrm>
          <a:custGeom>
            <a:avLst/>
            <a:gdLst/>
            <a:ahLst/>
            <a:cxnLst/>
            <a:rect r="r" b="b" t="t" l="l"/>
            <a:pathLst>
              <a:path h="8824047" w="13046984">
                <a:moveTo>
                  <a:pt x="0" y="0"/>
                </a:moveTo>
                <a:lnTo>
                  <a:pt x="13046984" y="0"/>
                </a:lnTo>
                <a:lnTo>
                  <a:pt x="13046984" y="8824047"/>
                </a:lnTo>
                <a:lnTo>
                  <a:pt x="0" y="8824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125" y="704701"/>
            <a:ext cx="16901750" cy="9363798"/>
          </a:xfrm>
          <a:custGeom>
            <a:avLst/>
            <a:gdLst/>
            <a:ahLst/>
            <a:cxnLst/>
            <a:rect r="r" b="b" t="t" l="l"/>
            <a:pathLst>
              <a:path h="9363798" w="16901750">
                <a:moveTo>
                  <a:pt x="0" y="0"/>
                </a:moveTo>
                <a:lnTo>
                  <a:pt x="16901750" y="0"/>
                </a:lnTo>
                <a:lnTo>
                  <a:pt x="16901750" y="9363798"/>
                </a:lnTo>
                <a:lnTo>
                  <a:pt x="0" y="9363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" r="0" b="-42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9325" y="95250"/>
            <a:ext cx="10329350" cy="82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004"/>
              </a:lnSpc>
              <a:spcBef>
                <a:spcPct val="0"/>
              </a:spcBef>
            </a:pPr>
            <a:r>
              <a:rPr lang="en-US" sz="6103" spc="-213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 DIAGRAMME D’ARCHITECTURE DU PIPELINE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7469"/>
            <a:ext cx="13099449" cy="8859531"/>
          </a:xfrm>
          <a:custGeom>
            <a:avLst/>
            <a:gdLst/>
            <a:ahLst/>
            <a:cxnLst/>
            <a:rect r="r" b="b" t="t" l="l"/>
            <a:pathLst>
              <a:path h="8859531" w="13099449">
                <a:moveTo>
                  <a:pt x="0" y="0"/>
                </a:moveTo>
                <a:lnTo>
                  <a:pt x="13099449" y="0"/>
                </a:lnTo>
                <a:lnTo>
                  <a:pt x="13099449" y="8859531"/>
                </a:lnTo>
                <a:lnTo>
                  <a:pt x="0" y="885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28732" y="3982288"/>
            <a:ext cx="4246362" cy="4206399"/>
          </a:xfrm>
          <a:custGeom>
            <a:avLst/>
            <a:gdLst/>
            <a:ahLst/>
            <a:cxnLst/>
            <a:rect r="r" b="b" t="t" l="l"/>
            <a:pathLst>
              <a:path h="4206399" w="4246362">
                <a:moveTo>
                  <a:pt x="0" y="0"/>
                </a:moveTo>
                <a:lnTo>
                  <a:pt x="4246362" y="0"/>
                </a:lnTo>
                <a:lnTo>
                  <a:pt x="4246362" y="4206399"/>
                </a:lnTo>
                <a:lnTo>
                  <a:pt x="0" y="4206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5" r="0" b="-47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9543" y="3132845"/>
            <a:ext cx="12817762" cy="5905286"/>
          </a:xfrm>
          <a:custGeom>
            <a:avLst/>
            <a:gdLst/>
            <a:ahLst/>
            <a:cxnLst/>
            <a:rect r="r" b="b" t="t" l="l"/>
            <a:pathLst>
              <a:path h="5905286" w="12817762">
                <a:moveTo>
                  <a:pt x="0" y="0"/>
                </a:moveTo>
                <a:lnTo>
                  <a:pt x="12817763" y="0"/>
                </a:lnTo>
                <a:lnTo>
                  <a:pt x="12817763" y="5905286"/>
                </a:lnTo>
                <a:lnTo>
                  <a:pt x="0" y="59052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09" t="0" r="-804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8442" y="2419700"/>
            <a:ext cx="10329350" cy="71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48"/>
              </a:lnSpc>
              <a:spcBef>
                <a:spcPct val="0"/>
              </a:spcBef>
            </a:pPr>
            <a:r>
              <a:rPr lang="en-US" sz="5303" spc="-185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DIAGRAMME DE GANTT PRÉVISIONNEL SUR 2 MOIS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907589"/>
            <a:ext cx="15784931" cy="6471822"/>
          </a:xfrm>
          <a:custGeom>
            <a:avLst/>
            <a:gdLst/>
            <a:ahLst/>
            <a:cxnLst/>
            <a:rect r="r" b="b" t="t" l="l"/>
            <a:pathLst>
              <a:path h="6471822" w="15784931">
                <a:moveTo>
                  <a:pt x="0" y="0"/>
                </a:moveTo>
                <a:lnTo>
                  <a:pt x="15784931" y="0"/>
                </a:lnTo>
                <a:lnTo>
                  <a:pt x="15784931" y="6471822"/>
                </a:lnTo>
                <a:lnTo>
                  <a:pt x="0" y="64718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2054" y="318211"/>
            <a:ext cx="1219190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(DETECTION DE LANGUE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7570" y="1296217"/>
            <a:ext cx="14982839" cy="2865468"/>
          </a:xfrm>
          <a:custGeom>
            <a:avLst/>
            <a:gdLst/>
            <a:ahLst/>
            <a:cxnLst/>
            <a:rect r="r" b="b" t="t" l="l"/>
            <a:pathLst>
              <a:path h="2865468" w="14982839">
                <a:moveTo>
                  <a:pt x="0" y="0"/>
                </a:moveTo>
                <a:lnTo>
                  <a:pt x="14982839" y="0"/>
                </a:lnTo>
                <a:lnTo>
                  <a:pt x="14982839" y="2865468"/>
                </a:lnTo>
                <a:lnTo>
                  <a:pt x="0" y="2865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7570" y="4928866"/>
            <a:ext cx="14982839" cy="3932995"/>
          </a:xfrm>
          <a:custGeom>
            <a:avLst/>
            <a:gdLst/>
            <a:ahLst/>
            <a:cxnLst/>
            <a:rect r="r" b="b" t="t" l="l"/>
            <a:pathLst>
              <a:path h="3932995" w="14982839">
                <a:moveTo>
                  <a:pt x="0" y="0"/>
                </a:moveTo>
                <a:lnTo>
                  <a:pt x="14982839" y="0"/>
                </a:lnTo>
                <a:lnTo>
                  <a:pt x="14982839" y="3932995"/>
                </a:lnTo>
                <a:lnTo>
                  <a:pt x="0" y="3932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2054" y="318211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(NLLB-200)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296217"/>
            <a:ext cx="15461081" cy="3614028"/>
          </a:xfrm>
          <a:custGeom>
            <a:avLst/>
            <a:gdLst/>
            <a:ahLst/>
            <a:cxnLst/>
            <a:rect r="r" b="b" t="t" l="l"/>
            <a:pathLst>
              <a:path h="3614028" w="15461081">
                <a:moveTo>
                  <a:pt x="0" y="0"/>
                </a:moveTo>
                <a:lnTo>
                  <a:pt x="15461081" y="0"/>
                </a:lnTo>
                <a:lnTo>
                  <a:pt x="15461081" y="3614028"/>
                </a:lnTo>
                <a:lnTo>
                  <a:pt x="0" y="36140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373703"/>
            <a:ext cx="15461081" cy="3884597"/>
          </a:xfrm>
          <a:custGeom>
            <a:avLst/>
            <a:gdLst/>
            <a:ahLst/>
            <a:cxnLst/>
            <a:rect r="r" b="b" t="t" l="l"/>
            <a:pathLst>
              <a:path h="3884597" w="15461081">
                <a:moveTo>
                  <a:pt x="0" y="0"/>
                </a:moveTo>
                <a:lnTo>
                  <a:pt x="15461081" y="0"/>
                </a:lnTo>
                <a:lnTo>
                  <a:pt x="15461081" y="3884597"/>
                </a:lnTo>
                <a:lnTo>
                  <a:pt x="0" y="3884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2054" y="318211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(NLLB-200)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1549" y="1523966"/>
            <a:ext cx="15126653" cy="4405638"/>
          </a:xfrm>
          <a:custGeom>
            <a:avLst/>
            <a:gdLst/>
            <a:ahLst/>
            <a:cxnLst/>
            <a:rect r="r" b="b" t="t" l="l"/>
            <a:pathLst>
              <a:path h="4405638" w="15126653">
                <a:moveTo>
                  <a:pt x="0" y="0"/>
                </a:moveTo>
                <a:lnTo>
                  <a:pt x="15126652" y="0"/>
                </a:lnTo>
                <a:lnTo>
                  <a:pt x="15126652" y="4405637"/>
                </a:lnTo>
                <a:lnTo>
                  <a:pt x="0" y="4405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549" y="6158203"/>
            <a:ext cx="15126653" cy="3855512"/>
          </a:xfrm>
          <a:custGeom>
            <a:avLst/>
            <a:gdLst/>
            <a:ahLst/>
            <a:cxnLst/>
            <a:rect r="r" b="b" t="t" l="l"/>
            <a:pathLst>
              <a:path h="3855512" w="15126653">
                <a:moveTo>
                  <a:pt x="0" y="0"/>
                </a:moveTo>
                <a:lnTo>
                  <a:pt x="15126652" y="0"/>
                </a:lnTo>
                <a:lnTo>
                  <a:pt x="15126652" y="3855513"/>
                </a:lnTo>
                <a:lnTo>
                  <a:pt x="0" y="38555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000" r="0" b="-1400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2054" y="318211"/>
            <a:ext cx="9698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(SEAMLESSM4T)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89884" y="1296217"/>
            <a:ext cx="12741907" cy="4714506"/>
          </a:xfrm>
          <a:custGeom>
            <a:avLst/>
            <a:gdLst/>
            <a:ahLst/>
            <a:cxnLst/>
            <a:rect r="r" b="b" t="t" l="l"/>
            <a:pathLst>
              <a:path h="4714506" w="12741907">
                <a:moveTo>
                  <a:pt x="0" y="0"/>
                </a:moveTo>
                <a:lnTo>
                  <a:pt x="12741907" y="0"/>
                </a:lnTo>
                <a:lnTo>
                  <a:pt x="12741907" y="4714506"/>
                </a:lnTo>
                <a:lnTo>
                  <a:pt x="0" y="4714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9884" y="6233157"/>
            <a:ext cx="12741907" cy="3792470"/>
          </a:xfrm>
          <a:custGeom>
            <a:avLst/>
            <a:gdLst/>
            <a:ahLst/>
            <a:cxnLst/>
            <a:rect r="r" b="b" t="t" l="l"/>
            <a:pathLst>
              <a:path h="3792470" w="12741907">
                <a:moveTo>
                  <a:pt x="0" y="0"/>
                </a:moveTo>
                <a:lnTo>
                  <a:pt x="12741907" y="0"/>
                </a:lnTo>
                <a:lnTo>
                  <a:pt x="12741907" y="3792469"/>
                </a:lnTo>
                <a:lnTo>
                  <a:pt x="0" y="3792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86" r="0" b="-228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2054" y="318211"/>
            <a:ext cx="9698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(SEAMLESSM4T)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60633" y="1723238"/>
            <a:ext cx="13952259" cy="1935876"/>
          </a:xfrm>
          <a:custGeom>
            <a:avLst/>
            <a:gdLst/>
            <a:ahLst/>
            <a:cxnLst/>
            <a:rect r="r" b="b" t="t" l="l"/>
            <a:pathLst>
              <a:path h="1935876" w="13952259">
                <a:moveTo>
                  <a:pt x="0" y="0"/>
                </a:moveTo>
                <a:lnTo>
                  <a:pt x="13952259" y="0"/>
                </a:lnTo>
                <a:lnTo>
                  <a:pt x="13952259" y="1935876"/>
                </a:lnTo>
                <a:lnTo>
                  <a:pt x="0" y="1935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0633" y="7397555"/>
            <a:ext cx="13952259" cy="2424205"/>
          </a:xfrm>
          <a:custGeom>
            <a:avLst/>
            <a:gdLst/>
            <a:ahLst/>
            <a:cxnLst/>
            <a:rect r="r" b="b" t="t" l="l"/>
            <a:pathLst>
              <a:path h="2424205" w="13952259">
                <a:moveTo>
                  <a:pt x="0" y="0"/>
                </a:moveTo>
                <a:lnTo>
                  <a:pt x="13952259" y="0"/>
                </a:lnTo>
                <a:lnTo>
                  <a:pt x="13952259" y="2424205"/>
                </a:lnTo>
                <a:lnTo>
                  <a:pt x="0" y="2424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60633" y="4087739"/>
            <a:ext cx="13952259" cy="2364458"/>
          </a:xfrm>
          <a:custGeom>
            <a:avLst/>
            <a:gdLst/>
            <a:ahLst/>
            <a:cxnLst/>
            <a:rect r="r" b="b" t="t" l="l"/>
            <a:pathLst>
              <a:path h="2364458" w="13952259">
                <a:moveTo>
                  <a:pt x="0" y="0"/>
                </a:moveTo>
                <a:lnTo>
                  <a:pt x="13952259" y="0"/>
                </a:lnTo>
                <a:lnTo>
                  <a:pt x="13952259" y="2364458"/>
                </a:lnTo>
                <a:lnTo>
                  <a:pt x="0" y="2364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955" y="1296217"/>
            <a:ext cx="4864695" cy="7814771"/>
          </a:xfrm>
          <a:custGeom>
            <a:avLst/>
            <a:gdLst/>
            <a:ahLst/>
            <a:cxnLst/>
            <a:rect r="r" b="b" t="t" l="l"/>
            <a:pathLst>
              <a:path h="7814771" w="4864695">
                <a:moveTo>
                  <a:pt x="0" y="0"/>
                </a:moveTo>
                <a:lnTo>
                  <a:pt x="4864695" y="0"/>
                </a:lnTo>
                <a:lnTo>
                  <a:pt x="4864695" y="7814771"/>
                </a:lnTo>
                <a:lnTo>
                  <a:pt x="0" y="7814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10462" y="1296217"/>
            <a:ext cx="8584687" cy="7436485"/>
          </a:xfrm>
          <a:custGeom>
            <a:avLst/>
            <a:gdLst/>
            <a:ahLst/>
            <a:cxnLst/>
            <a:rect r="r" b="b" t="t" l="l"/>
            <a:pathLst>
              <a:path h="7436485" w="8584687">
                <a:moveTo>
                  <a:pt x="0" y="0"/>
                </a:moveTo>
                <a:lnTo>
                  <a:pt x="8584687" y="0"/>
                </a:lnTo>
                <a:lnTo>
                  <a:pt x="8584687" y="7436485"/>
                </a:lnTo>
                <a:lnTo>
                  <a:pt x="0" y="7436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  <p:sp>
        <p:nvSpPr>
          <p:cNvPr name="AutoShape 7" id="7"/>
          <p:cNvSpPr/>
          <p:nvPr/>
        </p:nvSpPr>
        <p:spPr>
          <a:xfrm>
            <a:off x="6260343" y="5094408"/>
            <a:ext cx="1908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1852054" y="9015738"/>
            <a:ext cx="2763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Français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86121" y="8767127"/>
            <a:ext cx="23927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Anglais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955" y="1296217"/>
            <a:ext cx="4864695" cy="7814771"/>
          </a:xfrm>
          <a:custGeom>
            <a:avLst/>
            <a:gdLst/>
            <a:ahLst/>
            <a:cxnLst/>
            <a:rect r="r" b="b" t="t" l="l"/>
            <a:pathLst>
              <a:path h="7814771" w="4864695">
                <a:moveTo>
                  <a:pt x="0" y="0"/>
                </a:moveTo>
                <a:lnTo>
                  <a:pt x="4864695" y="0"/>
                </a:lnTo>
                <a:lnTo>
                  <a:pt x="4864695" y="7814771"/>
                </a:lnTo>
                <a:lnTo>
                  <a:pt x="0" y="7814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6260343" y="5094408"/>
            <a:ext cx="1908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88632" y="1296217"/>
            <a:ext cx="8129401" cy="6788050"/>
          </a:xfrm>
          <a:custGeom>
            <a:avLst/>
            <a:gdLst/>
            <a:ahLst/>
            <a:cxnLst/>
            <a:rect r="r" b="b" t="t" l="l"/>
            <a:pathLst>
              <a:path h="6788050" w="8129401">
                <a:moveTo>
                  <a:pt x="0" y="0"/>
                </a:moveTo>
                <a:lnTo>
                  <a:pt x="8129401" y="0"/>
                </a:lnTo>
                <a:lnTo>
                  <a:pt x="8129401" y="6788050"/>
                </a:lnTo>
                <a:lnTo>
                  <a:pt x="0" y="6788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2054" y="9015738"/>
            <a:ext cx="2763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Français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0118" y="8223893"/>
            <a:ext cx="30064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Bambara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955" y="1296217"/>
            <a:ext cx="4864695" cy="7814771"/>
          </a:xfrm>
          <a:custGeom>
            <a:avLst/>
            <a:gdLst/>
            <a:ahLst/>
            <a:cxnLst/>
            <a:rect r="r" b="b" t="t" l="l"/>
            <a:pathLst>
              <a:path h="7814771" w="4864695">
                <a:moveTo>
                  <a:pt x="0" y="0"/>
                </a:moveTo>
                <a:lnTo>
                  <a:pt x="4864695" y="0"/>
                </a:lnTo>
                <a:lnTo>
                  <a:pt x="4864695" y="7814771"/>
                </a:lnTo>
                <a:lnTo>
                  <a:pt x="0" y="7814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6260343" y="5094408"/>
            <a:ext cx="1908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06869" y="1296217"/>
            <a:ext cx="8480610" cy="6307453"/>
          </a:xfrm>
          <a:custGeom>
            <a:avLst/>
            <a:gdLst/>
            <a:ahLst/>
            <a:cxnLst/>
            <a:rect r="r" b="b" t="t" l="l"/>
            <a:pathLst>
              <a:path h="6307453" w="8480610">
                <a:moveTo>
                  <a:pt x="0" y="0"/>
                </a:moveTo>
                <a:lnTo>
                  <a:pt x="8480610" y="0"/>
                </a:lnTo>
                <a:lnTo>
                  <a:pt x="8480610" y="6307454"/>
                </a:lnTo>
                <a:lnTo>
                  <a:pt x="0" y="6307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2054" y="9015738"/>
            <a:ext cx="2763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Français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4354" y="7821521"/>
            <a:ext cx="52379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Arabe Marocain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955" y="1296217"/>
            <a:ext cx="4864695" cy="7814771"/>
          </a:xfrm>
          <a:custGeom>
            <a:avLst/>
            <a:gdLst/>
            <a:ahLst/>
            <a:cxnLst/>
            <a:rect r="r" b="b" t="t" l="l"/>
            <a:pathLst>
              <a:path h="7814771" w="4864695">
                <a:moveTo>
                  <a:pt x="0" y="0"/>
                </a:moveTo>
                <a:lnTo>
                  <a:pt x="4864695" y="0"/>
                </a:lnTo>
                <a:lnTo>
                  <a:pt x="4864695" y="7814771"/>
                </a:lnTo>
                <a:lnTo>
                  <a:pt x="0" y="7814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6260343" y="5094408"/>
            <a:ext cx="1908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06869" y="1296217"/>
            <a:ext cx="8654451" cy="7377919"/>
          </a:xfrm>
          <a:custGeom>
            <a:avLst/>
            <a:gdLst/>
            <a:ahLst/>
            <a:cxnLst/>
            <a:rect r="r" b="b" t="t" l="l"/>
            <a:pathLst>
              <a:path h="7377919" w="8654451">
                <a:moveTo>
                  <a:pt x="0" y="0"/>
                </a:moveTo>
                <a:lnTo>
                  <a:pt x="8654451" y="0"/>
                </a:lnTo>
                <a:lnTo>
                  <a:pt x="8654451" y="7377919"/>
                </a:lnTo>
                <a:lnTo>
                  <a:pt x="0" y="7377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2054" y="9015738"/>
            <a:ext cx="2763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Français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78559" y="8767127"/>
            <a:ext cx="16979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Akan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636" y="0"/>
            <a:ext cx="16794707" cy="11358739"/>
          </a:xfrm>
          <a:custGeom>
            <a:avLst/>
            <a:gdLst/>
            <a:ahLst/>
            <a:cxnLst/>
            <a:rect r="r" b="b" t="t" l="l"/>
            <a:pathLst>
              <a:path h="11358739" w="16794707">
                <a:moveTo>
                  <a:pt x="0" y="0"/>
                </a:moveTo>
                <a:lnTo>
                  <a:pt x="16794707" y="0"/>
                </a:lnTo>
                <a:lnTo>
                  <a:pt x="16794707" y="11358739"/>
                </a:lnTo>
                <a:lnTo>
                  <a:pt x="0" y="1135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955" y="1296217"/>
            <a:ext cx="4864695" cy="7814771"/>
          </a:xfrm>
          <a:custGeom>
            <a:avLst/>
            <a:gdLst/>
            <a:ahLst/>
            <a:cxnLst/>
            <a:rect r="r" b="b" t="t" l="l"/>
            <a:pathLst>
              <a:path h="7814771" w="4864695">
                <a:moveTo>
                  <a:pt x="0" y="0"/>
                </a:moveTo>
                <a:lnTo>
                  <a:pt x="4864695" y="0"/>
                </a:lnTo>
                <a:lnTo>
                  <a:pt x="4864695" y="7814771"/>
                </a:lnTo>
                <a:lnTo>
                  <a:pt x="0" y="7814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6260343" y="5094408"/>
            <a:ext cx="1908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206869" y="1296217"/>
            <a:ext cx="8686521" cy="6165766"/>
          </a:xfrm>
          <a:custGeom>
            <a:avLst/>
            <a:gdLst/>
            <a:ahLst/>
            <a:cxnLst/>
            <a:rect r="r" b="b" t="t" l="l"/>
            <a:pathLst>
              <a:path h="6165766" w="8686521">
                <a:moveTo>
                  <a:pt x="0" y="0"/>
                </a:moveTo>
                <a:lnTo>
                  <a:pt x="8686521" y="0"/>
                </a:lnTo>
                <a:lnTo>
                  <a:pt x="8686521" y="6165766"/>
                </a:lnTo>
                <a:lnTo>
                  <a:pt x="0" y="6165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34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2054" y="318211"/>
            <a:ext cx="10501279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REALISATION (TRADUCTION PDF)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2054" y="9015738"/>
            <a:ext cx="27632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Français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66946" y="7366733"/>
            <a:ext cx="23663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Swahili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75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9413" y="2811175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CONCLUSION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5576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750" y="4152327"/>
            <a:ext cx="10778728" cy="260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Assistant multilingue traduit efficacement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PDF préservé, structure intacte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forte, langues rares</a:t>
            </a:r>
          </a:p>
          <a:p>
            <a:pPr algn="l" marL="798838" indent="-399419" lvl="1">
              <a:lnSpc>
                <a:spcPts val="5180"/>
              </a:lnSpc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Explicable, inclusif et fiable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1270"/>
            <a:ext cx="16607173" cy="11231904"/>
          </a:xfrm>
          <a:custGeom>
            <a:avLst/>
            <a:gdLst/>
            <a:ahLst/>
            <a:cxnLst/>
            <a:rect r="r" b="b" t="t" l="l"/>
            <a:pathLst>
              <a:path h="11231904" w="16607173">
                <a:moveTo>
                  <a:pt x="0" y="0"/>
                </a:moveTo>
                <a:lnTo>
                  <a:pt x="16607173" y="0"/>
                </a:lnTo>
                <a:lnTo>
                  <a:pt x="16607173" y="11231905"/>
                </a:lnTo>
                <a:lnTo>
                  <a:pt x="0" y="1123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6553" y="2646527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183" y="7402849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6" y="0"/>
                </a:lnTo>
                <a:lnTo>
                  <a:pt x="786726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9770" y="1143000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F3FDFF"/>
                </a:solidFill>
                <a:latin typeface="Cheddar"/>
                <a:ea typeface="Cheddar"/>
                <a:cs typeface="Cheddar"/>
                <a:sym typeface="Cheddar"/>
              </a:rPr>
              <a:t>PERSPECTIVES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4804" y="2539152"/>
            <a:ext cx="9119705" cy="98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967"/>
              </a:lnSpc>
              <a:spcBef>
                <a:spcPct val="0"/>
              </a:spcBef>
            </a:pP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Déploiement de l'application au format web interactif, à l'aide de frameworks tels qe Gradio ,Streamlit ou React.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0419" y="2857512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049" y="7658144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25576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13767" y="3864610"/>
            <a:ext cx="9220743" cy="248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79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ntégration d'une fonctionnalité de traduction vocale de bout en bout (audio vers audio), combinant la reconnaissance vocale automatique </a:t>
            </a:r>
            <a:r>
              <a:rPr lang="en-US" b="true" sz="2799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Whisper </a:t>
            </a:r>
            <a:r>
              <a:rPr lang="en-US" sz="2799" strike="noStrike" u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avec le modèle SeamlessM4T , pour permettre des conversations multilingues en temps réel.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7940" y="4748491"/>
            <a:ext cx="786727" cy="790018"/>
          </a:xfrm>
          <a:custGeom>
            <a:avLst/>
            <a:gdLst/>
            <a:ahLst/>
            <a:cxnLst/>
            <a:rect r="r" b="b" t="t" l="l"/>
            <a:pathLst>
              <a:path h="790018" w="786727">
                <a:moveTo>
                  <a:pt x="0" y="0"/>
                </a:moveTo>
                <a:lnTo>
                  <a:pt x="786727" y="0"/>
                </a:lnTo>
                <a:lnTo>
                  <a:pt x="786727" y="790018"/>
                </a:lnTo>
                <a:lnTo>
                  <a:pt x="0" y="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2183" y="4959476"/>
            <a:ext cx="518993" cy="40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6"/>
              </a:lnSpc>
              <a:spcBef>
                <a:spcPct val="0"/>
              </a:spcBef>
            </a:pPr>
            <a:r>
              <a:rPr lang="en-US" sz="2934" spc="-10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13767" y="6810886"/>
            <a:ext cx="9321780" cy="198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Ajout de la traduction de documents numérisés par reconnaissance optique de caractères (OCR), permettant ainsi le traitement et la traduction automatique de documents papier numérisés.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750" y="1427469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5599" y="4051051"/>
            <a:ext cx="9726632" cy="109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628"/>
              </a:lnSpc>
              <a:spcBef>
                <a:spcPct val="0"/>
              </a:spcBef>
            </a:pPr>
            <a:r>
              <a:rPr lang="en-US" sz="8083" spc="-282">
                <a:solidFill>
                  <a:srgbClr val="F3FDFF"/>
                </a:solidFill>
                <a:latin typeface="Cheddar"/>
                <a:ea typeface="Cheddar"/>
                <a:cs typeface="Cheddar"/>
                <a:sym typeface="Cheddar"/>
              </a:rPr>
              <a:t>MERCI DE VOTRE ATTENTION 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255767" y="1765625"/>
            <a:ext cx="6032233" cy="6032233"/>
          </a:xfrm>
          <a:custGeom>
            <a:avLst/>
            <a:gdLst/>
            <a:ahLst/>
            <a:cxnLst/>
            <a:rect r="r" b="b" t="t" l="l"/>
            <a:pathLst>
              <a:path h="6032233" w="6032233">
                <a:moveTo>
                  <a:pt x="0" y="0"/>
                </a:moveTo>
                <a:lnTo>
                  <a:pt x="6032233" y="0"/>
                </a:lnTo>
                <a:lnTo>
                  <a:pt x="6032233" y="6032233"/>
                </a:lnTo>
                <a:lnTo>
                  <a:pt x="0" y="60322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DAGseuX1p_s</dc:identifier>
  <dcterms:modified xsi:type="dcterms:W3CDTF">2011-08-01T06:04:30Z</dcterms:modified>
  <cp:revision>1</cp:revision>
  <dc:title>Black and Blue Modern Technology Presentation</dc:title>
</cp:coreProperties>
</file>